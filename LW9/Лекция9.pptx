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5"/>
  </p:notesMasterIdLst>
  <p:sldIdLst>
    <p:sldId id="258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29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54A3D8"/>
    <a:srgbClr val="EDF583"/>
    <a:srgbClr val="61E995"/>
    <a:srgbClr val="8DEFB2"/>
    <a:srgbClr val="EEB646"/>
    <a:srgbClr val="63CDDF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48"/>
  </p:normalViewPr>
  <p:slideViewPr>
    <p:cSldViewPr snapToGrid="0">
      <p:cViewPr varScale="1">
        <p:scale>
          <a:sx n="112" d="100"/>
          <a:sy n="112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Графический интерфейс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5F1844-55A2-5A2F-EAB1-538AC203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92" y="868931"/>
            <a:ext cx="3365588" cy="10373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49211A-325B-B327-DDA1-0FC46324D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270" y="1894899"/>
            <a:ext cx="8069580" cy="4803503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2EE88F8-1770-4201-94F9-813D24170589}"/>
              </a:ext>
            </a:extLst>
          </p:cNvPr>
          <p:cNvCxnSpPr>
            <a:cxnSpLocks/>
          </p:cNvCxnSpPr>
          <p:nvPr/>
        </p:nvCxnSpPr>
        <p:spPr>
          <a:xfrm>
            <a:off x="3177540" y="1908809"/>
            <a:ext cx="1135018" cy="4264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10">
            <a:extLst>
              <a:ext uri="{FF2B5EF4-FFF2-40B4-BE49-F238E27FC236}">
                <a16:creationId xmlns:a16="http://schemas.microsoft.com/office/drawing/2014/main" id="{B8BD1603-2461-EE0D-38FE-70CA9DF1C9C0}"/>
              </a:ext>
            </a:extLst>
          </p:cNvPr>
          <p:cNvSpPr/>
          <p:nvPr/>
        </p:nvSpPr>
        <p:spPr>
          <a:xfrm>
            <a:off x="4158248" y="3725110"/>
            <a:ext cx="1937752" cy="11440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16D4E-FF63-2102-0452-5AFCE9E3392B}"/>
              </a:ext>
            </a:extLst>
          </p:cNvPr>
          <p:cNvSpPr txBox="1"/>
          <p:nvPr/>
        </p:nvSpPr>
        <p:spPr>
          <a:xfrm>
            <a:off x="3633880" y="1442066"/>
            <a:ext cx="856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- запуск модуля графического интерфейса из командной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Окна редактора графического интерфейса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0CD459-A322-AA4C-935D-5B066A77B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52" y="956381"/>
            <a:ext cx="9597898" cy="5731317"/>
          </a:xfrm>
          <a:prstGeom prst="rect">
            <a:avLst/>
          </a:prstGeom>
        </p:spPr>
      </p:pic>
      <p:sp>
        <p:nvSpPr>
          <p:cNvPr id="5" name="Прямоугольник: скругленные углы 7">
            <a:extLst>
              <a:ext uri="{FF2B5EF4-FFF2-40B4-BE49-F238E27FC236}">
                <a16:creationId xmlns:a16="http://schemas.microsoft.com/office/drawing/2014/main" id="{54F06919-5568-4C8E-FB35-D4EF1E1A73FD}"/>
              </a:ext>
            </a:extLst>
          </p:cNvPr>
          <p:cNvSpPr/>
          <p:nvPr/>
        </p:nvSpPr>
        <p:spPr>
          <a:xfrm>
            <a:off x="1154219" y="2559585"/>
            <a:ext cx="2652923" cy="41271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9">
            <a:extLst>
              <a:ext uri="{FF2B5EF4-FFF2-40B4-BE49-F238E27FC236}">
                <a16:creationId xmlns:a16="http://schemas.microsoft.com/office/drawing/2014/main" id="{269B9252-1BAA-0471-A149-FE7CB3350FFA}"/>
              </a:ext>
            </a:extLst>
          </p:cNvPr>
          <p:cNvSpPr/>
          <p:nvPr/>
        </p:nvSpPr>
        <p:spPr>
          <a:xfrm>
            <a:off x="3923404" y="2925162"/>
            <a:ext cx="4078933" cy="3762535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11">
            <a:extLst>
              <a:ext uri="{FF2B5EF4-FFF2-40B4-BE49-F238E27FC236}">
                <a16:creationId xmlns:a16="http://schemas.microsoft.com/office/drawing/2014/main" id="{F8C5DCC9-3F1A-940C-1890-CFD1D0218A88}"/>
              </a:ext>
            </a:extLst>
          </p:cNvPr>
          <p:cNvSpPr/>
          <p:nvPr/>
        </p:nvSpPr>
        <p:spPr>
          <a:xfrm>
            <a:off x="8046988" y="2401073"/>
            <a:ext cx="2721799" cy="1354199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12">
            <a:extLst>
              <a:ext uri="{FF2B5EF4-FFF2-40B4-BE49-F238E27FC236}">
                <a16:creationId xmlns:a16="http://schemas.microsoft.com/office/drawing/2014/main" id="{6B2C5BF4-B22F-3FCE-D112-BBFEC7F59C2C}"/>
              </a:ext>
            </a:extLst>
          </p:cNvPr>
          <p:cNvSpPr/>
          <p:nvPr/>
        </p:nvSpPr>
        <p:spPr>
          <a:xfrm>
            <a:off x="8118599" y="3840480"/>
            <a:ext cx="2721799" cy="284721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13">
            <a:extLst>
              <a:ext uri="{FF2B5EF4-FFF2-40B4-BE49-F238E27FC236}">
                <a16:creationId xmlns:a16="http://schemas.microsoft.com/office/drawing/2014/main" id="{D42D3641-C4AD-B1E8-718A-9965F950FC92}"/>
              </a:ext>
            </a:extLst>
          </p:cNvPr>
          <p:cNvSpPr/>
          <p:nvPr/>
        </p:nvSpPr>
        <p:spPr>
          <a:xfrm>
            <a:off x="1174645" y="1234759"/>
            <a:ext cx="3882795" cy="1099147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14">
            <a:extLst>
              <a:ext uri="{FF2B5EF4-FFF2-40B4-BE49-F238E27FC236}">
                <a16:creationId xmlns:a16="http://schemas.microsoft.com/office/drawing/2014/main" id="{5DA4F756-2913-EB16-F4AB-5F284E2CFC26}"/>
              </a:ext>
            </a:extLst>
          </p:cNvPr>
          <p:cNvSpPr/>
          <p:nvPr/>
        </p:nvSpPr>
        <p:spPr>
          <a:xfrm>
            <a:off x="6208871" y="2476054"/>
            <a:ext cx="1700689" cy="3836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6">
            <a:extLst>
              <a:ext uri="{FF2B5EF4-FFF2-40B4-BE49-F238E27FC236}">
                <a16:creationId xmlns:a16="http://schemas.microsoft.com/office/drawing/2014/main" id="{3850C07C-4560-97A0-C6D5-752760E31C37}"/>
              </a:ext>
            </a:extLst>
          </p:cNvPr>
          <p:cNvSpPr/>
          <p:nvPr/>
        </p:nvSpPr>
        <p:spPr>
          <a:xfrm>
            <a:off x="1551091" y="4663440"/>
            <a:ext cx="1397849" cy="84487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Библиотека графических элементов</a:t>
            </a:r>
          </a:p>
        </p:txBody>
      </p:sp>
      <p:sp>
        <p:nvSpPr>
          <p:cNvPr id="13" name="Прямоугольник: скругленные углы 17">
            <a:extLst>
              <a:ext uri="{FF2B5EF4-FFF2-40B4-BE49-F238E27FC236}">
                <a16:creationId xmlns:a16="http://schemas.microsoft.com/office/drawing/2014/main" id="{3DC40DFA-FA00-2951-B980-8BC41F80F478}"/>
              </a:ext>
            </a:extLst>
          </p:cNvPr>
          <p:cNvSpPr/>
          <p:nvPr/>
        </p:nvSpPr>
        <p:spPr>
          <a:xfrm>
            <a:off x="6336535" y="5314950"/>
            <a:ext cx="1425521" cy="903728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Шаблон окна приложения</a:t>
            </a:r>
          </a:p>
        </p:txBody>
      </p:sp>
      <p:sp>
        <p:nvSpPr>
          <p:cNvPr id="14" name="Прямоугольник: скругленные углы 18">
            <a:extLst>
              <a:ext uri="{FF2B5EF4-FFF2-40B4-BE49-F238E27FC236}">
                <a16:creationId xmlns:a16="http://schemas.microsoft.com/office/drawing/2014/main" id="{4D19FCCC-7A88-4EDA-2A91-E5B0B24FFD7E}"/>
              </a:ext>
            </a:extLst>
          </p:cNvPr>
          <p:cNvSpPr/>
          <p:nvPr/>
        </p:nvSpPr>
        <p:spPr>
          <a:xfrm>
            <a:off x="9366249" y="5072372"/>
            <a:ext cx="1378051" cy="91849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Параметры выбранного элемента</a:t>
            </a:r>
          </a:p>
        </p:txBody>
      </p:sp>
      <p:sp>
        <p:nvSpPr>
          <p:cNvPr id="15" name="Прямоугольник: скругленные углы 19">
            <a:extLst>
              <a:ext uri="{FF2B5EF4-FFF2-40B4-BE49-F238E27FC236}">
                <a16:creationId xmlns:a16="http://schemas.microsoft.com/office/drawing/2014/main" id="{3E09996D-38D1-32E3-FBDE-5A67390A91FF}"/>
              </a:ext>
            </a:extLst>
          </p:cNvPr>
          <p:cNvSpPr/>
          <p:nvPr/>
        </p:nvSpPr>
        <p:spPr>
          <a:xfrm>
            <a:off x="9338310" y="2777489"/>
            <a:ext cx="1381995" cy="898825"/>
          </a:xfrm>
          <a:prstGeom prst="round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Дерево элементов приложения</a:t>
            </a:r>
          </a:p>
        </p:txBody>
      </p:sp>
      <p:sp>
        <p:nvSpPr>
          <p:cNvPr id="16" name="Прямоугольник: скругленные углы 20">
            <a:extLst>
              <a:ext uri="{FF2B5EF4-FFF2-40B4-BE49-F238E27FC236}">
                <a16:creationId xmlns:a16="http://schemas.microsoft.com/office/drawing/2014/main" id="{3CF7D0E6-EA0F-2475-75DD-8C8A32A0F1E1}"/>
              </a:ext>
            </a:extLst>
          </p:cNvPr>
          <p:cNvSpPr/>
          <p:nvPr/>
        </p:nvSpPr>
        <p:spPr>
          <a:xfrm>
            <a:off x="1271866" y="1906166"/>
            <a:ext cx="3429385" cy="331767"/>
          </a:xfrm>
          <a:prstGeom prst="roundRect">
            <a:avLst/>
          </a:prstGeom>
          <a:ln w="1905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Вкладки с основными функциями</a:t>
            </a:r>
          </a:p>
        </p:txBody>
      </p:sp>
      <p:sp>
        <p:nvSpPr>
          <p:cNvPr id="17" name="Прямоугольник: скругленные углы 21">
            <a:extLst>
              <a:ext uri="{FF2B5EF4-FFF2-40B4-BE49-F238E27FC236}">
                <a16:creationId xmlns:a16="http://schemas.microsoft.com/office/drawing/2014/main" id="{3FA30946-5F6E-93B5-9E9A-F2F9EC5D79A5}"/>
              </a:ext>
            </a:extLst>
          </p:cNvPr>
          <p:cNvSpPr/>
          <p:nvPr/>
        </p:nvSpPr>
        <p:spPr>
          <a:xfrm>
            <a:off x="5990001" y="1114660"/>
            <a:ext cx="4598788" cy="918497"/>
          </a:xfrm>
          <a:prstGeom prst="roundRect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Кнопки переключения между редактированием шаблона окна приложения и кодом окна приложения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664E1753-0278-3812-695E-D242B612ECB3}"/>
              </a:ext>
            </a:extLst>
          </p:cNvPr>
          <p:cNvCxnSpPr>
            <a:cxnSpLocks/>
          </p:cNvCxnSpPr>
          <p:nvPr/>
        </p:nvCxnSpPr>
        <p:spPr>
          <a:xfrm>
            <a:off x="6336535" y="2033157"/>
            <a:ext cx="189995" cy="44289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15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Настройка внешнего вида окна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C10DAE-3667-F7DF-A0C4-8CD237099B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43"/>
          <a:stretch/>
        </p:blipFill>
        <p:spPr>
          <a:xfrm>
            <a:off x="1030320" y="967154"/>
            <a:ext cx="7295058" cy="5720544"/>
          </a:xfrm>
          <a:prstGeom prst="rect">
            <a:avLst/>
          </a:prstGeom>
        </p:spPr>
      </p:pic>
      <p:sp>
        <p:nvSpPr>
          <p:cNvPr id="12" name="Прямоугольник: скругленные углы 5">
            <a:extLst>
              <a:ext uri="{FF2B5EF4-FFF2-40B4-BE49-F238E27FC236}">
                <a16:creationId xmlns:a16="http://schemas.microsoft.com/office/drawing/2014/main" id="{BE2698AD-79B4-AB61-1C7C-BBA85F3988E6}"/>
              </a:ext>
            </a:extLst>
          </p:cNvPr>
          <p:cNvSpPr/>
          <p:nvPr/>
        </p:nvSpPr>
        <p:spPr>
          <a:xfrm>
            <a:off x="1765018" y="1147918"/>
            <a:ext cx="502431" cy="50310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5F2A1D39-AA85-4F92-FBD5-B712511EC20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267449" y="1399472"/>
            <a:ext cx="2618151" cy="2854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2AD6F55F-94A3-289B-C6AB-522285EE4E42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382829" y="1651025"/>
            <a:ext cx="3627390" cy="13346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14">
            <a:extLst>
              <a:ext uri="{FF2B5EF4-FFF2-40B4-BE49-F238E27FC236}">
                <a16:creationId xmlns:a16="http://schemas.microsoft.com/office/drawing/2014/main" id="{16F218A4-3CDC-41C6-6221-AF04C13C019F}"/>
              </a:ext>
            </a:extLst>
          </p:cNvPr>
          <p:cNvSpPr/>
          <p:nvPr/>
        </p:nvSpPr>
        <p:spPr>
          <a:xfrm>
            <a:off x="1131613" y="1147918"/>
            <a:ext cx="502431" cy="503107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61037D0-2AF3-3D82-1E49-DE96DBDC66E7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292815" y="3969061"/>
            <a:ext cx="3022135" cy="1489467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: скругленные углы 18">
            <a:extLst>
              <a:ext uri="{FF2B5EF4-FFF2-40B4-BE49-F238E27FC236}">
                <a16:creationId xmlns:a16="http://schemas.microsoft.com/office/drawing/2014/main" id="{3DDA84DC-69FE-D2F3-94C6-F8FCE3ED6CF3}"/>
              </a:ext>
            </a:extLst>
          </p:cNvPr>
          <p:cNvSpPr/>
          <p:nvPr/>
        </p:nvSpPr>
        <p:spPr>
          <a:xfrm>
            <a:off x="1790384" y="3717507"/>
            <a:ext cx="502431" cy="503107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блачко с текстом: прямоугольное со скругленными углами 20">
            <a:extLst>
              <a:ext uri="{FF2B5EF4-FFF2-40B4-BE49-F238E27FC236}">
                <a16:creationId xmlns:a16="http://schemas.microsoft.com/office/drawing/2014/main" id="{E6E5EC69-4737-E992-9D96-B7BC3DE4D570}"/>
              </a:ext>
            </a:extLst>
          </p:cNvPr>
          <p:cNvSpPr/>
          <p:nvPr/>
        </p:nvSpPr>
        <p:spPr>
          <a:xfrm>
            <a:off x="6615628" y="1231769"/>
            <a:ext cx="4837231" cy="838512"/>
          </a:xfrm>
          <a:prstGeom prst="wedgeRoundRectCallout">
            <a:avLst>
              <a:gd name="adj1" fmla="val -74354"/>
              <a:gd name="adj2" fmla="val 12753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Кнопка для запуска моделирования</a:t>
            </a:r>
          </a:p>
        </p:txBody>
      </p:sp>
      <p:sp>
        <p:nvSpPr>
          <p:cNvPr id="27" name="Облачко с текстом: прямоугольное со скругленными углами 22">
            <a:extLst>
              <a:ext uri="{FF2B5EF4-FFF2-40B4-BE49-F238E27FC236}">
                <a16:creationId xmlns:a16="http://schemas.microsoft.com/office/drawing/2014/main" id="{5E6294F5-C4C4-E87C-37A2-F5BB8E5CD85E}"/>
              </a:ext>
            </a:extLst>
          </p:cNvPr>
          <p:cNvSpPr/>
          <p:nvPr/>
        </p:nvSpPr>
        <p:spPr>
          <a:xfrm>
            <a:off x="8457403" y="2545497"/>
            <a:ext cx="2995457" cy="1509322"/>
          </a:xfrm>
          <a:prstGeom prst="wedgeRoundRectCallout">
            <a:avLst>
              <a:gd name="adj1" fmla="val -69348"/>
              <a:gd name="adj2" fmla="val 16680"/>
              <a:gd name="adj3" fmla="val 1666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для отображения результатов моделирования</a:t>
            </a:r>
          </a:p>
        </p:txBody>
      </p:sp>
      <p:sp>
        <p:nvSpPr>
          <p:cNvPr id="28" name="Облачко с текстом: прямоугольное со скругленными углами 23">
            <a:extLst>
              <a:ext uri="{FF2B5EF4-FFF2-40B4-BE49-F238E27FC236}">
                <a16:creationId xmlns:a16="http://schemas.microsoft.com/office/drawing/2014/main" id="{5BD476FF-B8E7-ABC5-FF1C-5AA0F686029E}"/>
              </a:ext>
            </a:extLst>
          </p:cNvPr>
          <p:cNvSpPr/>
          <p:nvPr/>
        </p:nvSpPr>
        <p:spPr>
          <a:xfrm>
            <a:off x="7765920" y="5129789"/>
            <a:ext cx="3686940" cy="1090066"/>
          </a:xfrm>
          <a:prstGeom prst="wedgeRoundRectCallout">
            <a:avLst>
              <a:gd name="adj1" fmla="val -81452"/>
              <a:gd name="adj2" fmla="val 12753"/>
              <a:gd name="adj3" fmla="val 16667"/>
            </a:avLst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Слайдер для изменения параметра модели</a:t>
            </a:r>
          </a:p>
        </p:txBody>
      </p:sp>
    </p:spTree>
    <p:extLst>
      <p:ext uri="{BB962C8B-B14F-4D97-AF65-F5344CB8AC3E}">
        <p14:creationId xmlns:p14="http://schemas.microsoft.com/office/powerpoint/2010/main" val="295173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53565-C035-EC03-9FDF-564669E3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20059-7097-34BC-7B21-CFFADBC7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Настройка внешнего вида окна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05AECE2-85B3-DB3A-6714-8EE047FB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89A809-1535-BB76-67C1-F6DB592C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88" y="1017963"/>
            <a:ext cx="3395699" cy="27611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8E2A56-E3E8-B9AB-98B2-9120E7459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871" y="3779147"/>
            <a:ext cx="3522018" cy="29085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AF29A63-B28F-354A-6C10-11A1F07E4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38" y="3603056"/>
            <a:ext cx="4231392" cy="304591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79EC77-B635-33F5-922F-54184DFCF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340" y="1017963"/>
            <a:ext cx="2503252" cy="2534284"/>
          </a:xfrm>
          <a:prstGeom prst="rect">
            <a:avLst/>
          </a:prstGeom>
        </p:spPr>
      </p:pic>
      <p:sp>
        <p:nvSpPr>
          <p:cNvPr id="13" name="Прямоугольник: скругленные углы 19">
            <a:extLst>
              <a:ext uri="{FF2B5EF4-FFF2-40B4-BE49-F238E27FC236}">
                <a16:creationId xmlns:a16="http://schemas.microsoft.com/office/drawing/2014/main" id="{557D5118-DDE0-4C1B-FE22-48D12F1153DC}"/>
              </a:ext>
            </a:extLst>
          </p:cNvPr>
          <p:cNvSpPr/>
          <p:nvPr/>
        </p:nvSpPr>
        <p:spPr>
          <a:xfrm>
            <a:off x="7388334" y="967154"/>
            <a:ext cx="936104" cy="3578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97F8FF6-7654-69D5-B8F2-2092FA1B7E98}"/>
              </a:ext>
            </a:extLst>
          </p:cNvPr>
          <p:cNvCxnSpPr>
            <a:cxnSpLocks/>
          </p:cNvCxnSpPr>
          <p:nvPr/>
        </p:nvCxnSpPr>
        <p:spPr>
          <a:xfrm flipH="1">
            <a:off x="5372110" y="1113375"/>
            <a:ext cx="2016224" cy="4996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CBA90F7-0276-6A60-D334-6513A8B4EBBD}"/>
              </a:ext>
            </a:extLst>
          </p:cNvPr>
          <p:cNvCxnSpPr>
            <a:cxnSpLocks/>
          </p:cNvCxnSpPr>
          <p:nvPr/>
        </p:nvCxnSpPr>
        <p:spPr>
          <a:xfrm flipH="1">
            <a:off x="5300102" y="2045069"/>
            <a:ext cx="1872207" cy="244827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30">
            <a:extLst>
              <a:ext uri="{FF2B5EF4-FFF2-40B4-BE49-F238E27FC236}">
                <a16:creationId xmlns:a16="http://schemas.microsoft.com/office/drawing/2014/main" id="{363AABC5-C9C9-BFAA-BD92-DBC2849FF035}"/>
              </a:ext>
            </a:extLst>
          </p:cNvPr>
          <p:cNvSpPr/>
          <p:nvPr/>
        </p:nvSpPr>
        <p:spPr>
          <a:xfrm>
            <a:off x="7172309" y="1396997"/>
            <a:ext cx="2371745" cy="144016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512AC3C-9329-5A86-09CA-D88CE2A7E48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964398" y="3552247"/>
            <a:ext cx="332416" cy="94109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: скругленные углы 34">
            <a:extLst>
              <a:ext uri="{FF2B5EF4-FFF2-40B4-BE49-F238E27FC236}">
                <a16:creationId xmlns:a16="http://schemas.microsoft.com/office/drawing/2014/main" id="{B1A78019-EE48-6B50-0568-B412508DE540}"/>
              </a:ext>
            </a:extLst>
          </p:cNvPr>
          <p:cNvSpPr/>
          <p:nvPr/>
        </p:nvSpPr>
        <p:spPr>
          <a:xfrm>
            <a:off x="7110941" y="3053181"/>
            <a:ext cx="2371745" cy="499066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46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A646D-030B-0B46-B383-C2CC57EE4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B7D97-A010-93BA-8E64-87E0EDF2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Настройка внешнего вида окна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9E17B5-B58E-C8DA-6E04-B4DE466B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154E9C-FA98-3D16-0A9F-5172735795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601"/>
          <a:stretch/>
        </p:blipFill>
        <p:spPr>
          <a:xfrm>
            <a:off x="332182" y="967154"/>
            <a:ext cx="11246408" cy="5629735"/>
          </a:xfrm>
          <a:prstGeom prst="rect">
            <a:avLst/>
          </a:prstGeom>
        </p:spPr>
      </p:pic>
      <p:sp>
        <p:nvSpPr>
          <p:cNvPr id="5" name="Прямоугольник: скругленные углы 5">
            <a:extLst>
              <a:ext uri="{FF2B5EF4-FFF2-40B4-BE49-F238E27FC236}">
                <a16:creationId xmlns:a16="http://schemas.microsoft.com/office/drawing/2014/main" id="{A5D602F1-EC2C-AC59-C049-6983DF5D6A14}"/>
              </a:ext>
            </a:extLst>
          </p:cNvPr>
          <p:cNvSpPr/>
          <p:nvPr/>
        </p:nvSpPr>
        <p:spPr>
          <a:xfrm>
            <a:off x="356460" y="4565359"/>
            <a:ext cx="513900" cy="4972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722804A7-66EC-EA50-5CCA-44EC37AC56B6}"/>
              </a:ext>
            </a:extLst>
          </p:cNvPr>
          <p:cNvCxnSpPr>
            <a:cxnSpLocks/>
          </p:cNvCxnSpPr>
          <p:nvPr/>
        </p:nvCxnSpPr>
        <p:spPr>
          <a:xfrm flipV="1">
            <a:off x="870360" y="4339098"/>
            <a:ext cx="2077530" cy="469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9">
            <a:extLst>
              <a:ext uri="{FF2B5EF4-FFF2-40B4-BE49-F238E27FC236}">
                <a16:creationId xmlns:a16="http://schemas.microsoft.com/office/drawing/2014/main" id="{E5C99604-E94C-936B-3BFB-D503D180BA02}"/>
              </a:ext>
            </a:extLst>
          </p:cNvPr>
          <p:cNvSpPr/>
          <p:nvPr/>
        </p:nvSpPr>
        <p:spPr>
          <a:xfrm>
            <a:off x="9844727" y="2766677"/>
            <a:ext cx="1880935" cy="4972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12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58AC-BA3B-5A27-E8B9-9DDA190C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281D8-1971-E4CC-8750-A2FC5936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Настройка внешнего вида окна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8BC098-4B9D-F83B-104A-50D858FE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F7E2F7-2C82-20B0-EAEE-A3F7E823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64" y="967898"/>
            <a:ext cx="8356152" cy="13815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34B456-AD4D-64A3-A4B7-0A5BC3C6F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650" y="2375566"/>
            <a:ext cx="5374390" cy="4265922"/>
          </a:xfrm>
          <a:prstGeom prst="rect">
            <a:avLst/>
          </a:prstGeom>
        </p:spPr>
      </p:pic>
      <p:sp>
        <p:nvSpPr>
          <p:cNvPr id="10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3EC7F7BC-2BBE-07D1-D04F-F0BDEF6B5390}"/>
              </a:ext>
            </a:extLst>
          </p:cNvPr>
          <p:cNvSpPr/>
          <p:nvPr/>
        </p:nvSpPr>
        <p:spPr>
          <a:xfrm>
            <a:off x="8850998" y="1089547"/>
            <a:ext cx="2727592" cy="604918"/>
          </a:xfrm>
          <a:prstGeom prst="wedgeRoundRectCallout">
            <a:avLst>
              <a:gd name="adj1" fmla="val -96786"/>
              <a:gd name="adj2" fmla="val 50538"/>
              <a:gd name="adj3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Запускаем приложение</a:t>
            </a:r>
          </a:p>
        </p:txBody>
      </p:sp>
      <p:sp>
        <p:nvSpPr>
          <p:cNvPr id="11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88E65515-6B2E-3599-5669-AF2D0D720D30}"/>
              </a:ext>
            </a:extLst>
          </p:cNvPr>
          <p:cNvSpPr/>
          <p:nvPr/>
        </p:nvSpPr>
        <p:spPr>
          <a:xfrm>
            <a:off x="8850998" y="2349474"/>
            <a:ext cx="3137552" cy="1584176"/>
          </a:xfrm>
          <a:prstGeom prst="wedgeRoundRectCallout">
            <a:avLst>
              <a:gd name="adj1" fmla="val -67791"/>
              <a:gd name="adj2" fmla="val 32910"/>
              <a:gd name="adj3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Изменение размеров окна приложения приводит к автоматической перерисовки компонентов благодаря </a:t>
            </a:r>
            <a:r>
              <a:rPr lang="en-US" dirty="0" err="1">
                <a:solidFill>
                  <a:schemeClr val="tx1"/>
                </a:solidFill>
              </a:rPr>
              <a:t>GridLayout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734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27E0-C8BA-07D2-AFE7-9CB41E50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D946E-76CE-A267-79D0-5BB925201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Настройка логики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83E4F57-3EB9-5DB7-039D-7F14326B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1D5F9B-B8A8-5120-12E8-D631BAA4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714" y="1802602"/>
            <a:ext cx="4769237" cy="44591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157BA1-CCE5-1E90-8DA3-75449A152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40" y="797384"/>
            <a:ext cx="1771897" cy="1829055"/>
          </a:xfrm>
          <a:prstGeom prst="rect">
            <a:avLst/>
          </a:prstGeom>
        </p:spPr>
      </p:pic>
      <p:sp>
        <p:nvSpPr>
          <p:cNvPr id="10" name="Облачко с текстом: прямоугольное со скругленными углами 13">
            <a:extLst>
              <a:ext uri="{FF2B5EF4-FFF2-40B4-BE49-F238E27FC236}">
                <a16:creationId xmlns:a16="http://schemas.microsoft.com/office/drawing/2014/main" id="{6731DB22-39B3-89A8-AA31-D8E917F898D2}"/>
              </a:ext>
            </a:extLst>
          </p:cNvPr>
          <p:cNvSpPr/>
          <p:nvPr/>
        </p:nvSpPr>
        <p:spPr>
          <a:xfrm>
            <a:off x="2313868" y="967154"/>
            <a:ext cx="2112493" cy="1252990"/>
          </a:xfrm>
          <a:prstGeom prst="wedgeRoundRectCallout">
            <a:avLst>
              <a:gd name="adj1" fmla="val -75430"/>
              <a:gd name="adj2" fmla="val 47388"/>
              <a:gd name="adj3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Изменить имена переменных графических элементов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D57EA9-3CA3-19D9-3E28-DD5B6BC70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365" y="2900036"/>
            <a:ext cx="4517446" cy="3605099"/>
          </a:xfrm>
          <a:prstGeom prst="rect">
            <a:avLst/>
          </a:prstGeom>
        </p:spPr>
      </p:pic>
      <p:sp>
        <p:nvSpPr>
          <p:cNvPr id="12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0AC12248-0F2B-8BF7-56D5-B009548C137F}"/>
              </a:ext>
            </a:extLst>
          </p:cNvPr>
          <p:cNvSpPr/>
          <p:nvPr/>
        </p:nvSpPr>
        <p:spPr>
          <a:xfrm>
            <a:off x="5174636" y="2937990"/>
            <a:ext cx="2160240" cy="1143001"/>
          </a:xfrm>
          <a:prstGeom prst="wedgeRoundRectCallout">
            <a:avLst>
              <a:gd name="adj1" fmla="val 44808"/>
              <a:gd name="adj2" fmla="val 198989"/>
              <a:gd name="adj3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Создаем функцию обработки нажатия кнопки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462EF14-308C-1A55-FF37-DCD46F4F2B18}"/>
              </a:ext>
            </a:extLst>
          </p:cNvPr>
          <p:cNvCxnSpPr>
            <a:cxnSpLocks/>
          </p:cNvCxnSpPr>
          <p:nvPr/>
        </p:nvCxnSpPr>
        <p:spPr>
          <a:xfrm flipH="1" flipV="1">
            <a:off x="5174636" y="4560570"/>
            <a:ext cx="1925230" cy="13038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07283D38-3174-1958-1DAF-B3B2753A7B60}"/>
              </a:ext>
            </a:extLst>
          </p:cNvPr>
          <p:cNvSpPr/>
          <p:nvPr/>
        </p:nvSpPr>
        <p:spPr>
          <a:xfrm>
            <a:off x="7725789" y="1053782"/>
            <a:ext cx="3201292" cy="1486029"/>
          </a:xfrm>
          <a:prstGeom prst="wedgeRoundRectCallout">
            <a:avLst>
              <a:gd name="adj1" fmla="val -27934"/>
              <a:gd name="adj2" fmla="val 162378"/>
              <a:gd name="adj3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Нажимаем правой кнопкой мыши по редактируемому элементу для вызова списка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3014163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9E70D-B0D5-D2AB-B29F-D41293A6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CE130-EE8E-1F92-ABB5-71F161BF6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Подключение модели к приложению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F6DC34E-48C1-5952-E809-88FA0862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2E3E14-FCB8-8BC6-E3A0-513F5B162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91" y="1484858"/>
            <a:ext cx="9285539" cy="248469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DFDE0E-9AFB-C0E0-20B4-8C8B9319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42" y="4402158"/>
            <a:ext cx="7520238" cy="1594729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EDC98D7-FE9C-E062-0816-8D707233D86F}"/>
              </a:ext>
            </a:extLst>
          </p:cNvPr>
          <p:cNvCxnSpPr>
            <a:cxnSpLocks/>
          </p:cNvCxnSpPr>
          <p:nvPr/>
        </p:nvCxnSpPr>
        <p:spPr>
          <a:xfrm flipH="1">
            <a:off x="6131404" y="3178022"/>
            <a:ext cx="313576" cy="1565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03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4DD4-60AE-3EFE-8DB1-9EBD7D84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81D30-01E9-2DE5-9F10-F144D61E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1017905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Подключение модели к приложению </a:t>
            </a:r>
            <a:br>
              <a:rPr lang="ru-RU" dirty="0"/>
            </a:br>
            <a:r>
              <a:rPr lang="ru-RU" dirty="0"/>
              <a:t>и запуск моделирования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42C060E-BFAF-4B28-1382-7B398E6A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D638A2-3F40-82E1-120C-9B33F4A6C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98" y="3404183"/>
            <a:ext cx="6713732" cy="129110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05FD57-1F14-CA72-ED83-8281300C8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98" y="1484783"/>
            <a:ext cx="6264696" cy="17990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EF01E6-C9ED-4C9A-D396-0E8BF5BD1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066" y="1972496"/>
            <a:ext cx="3993380" cy="2037027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D212A01-8379-431D-A5F2-34E31A871B6F}"/>
              </a:ext>
            </a:extLst>
          </p:cNvPr>
          <p:cNvCxnSpPr>
            <a:cxnSpLocks/>
          </p:cNvCxnSpPr>
          <p:nvPr/>
        </p:nvCxnSpPr>
        <p:spPr>
          <a:xfrm>
            <a:off x="5314950" y="2554932"/>
            <a:ext cx="3122636" cy="320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2">
            <a:extLst>
              <a:ext uri="{FF2B5EF4-FFF2-40B4-BE49-F238E27FC236}">
                <a16:creationId xmlns:a16="http://schemas.microsoft.com/office/drawing/2014/main" id="{3A98C23B-383E-9700-7966-0654C4C0442E}"/>
              </a:ext>
            </a:extLst>
          </p:cNvPr>
          <p:cNvSpPr/>
          <p:nvPr/>
        </p:nvSpPr>
        <p:spPr>
          <a:xfrm>
            <a:off x="4602696" y="2172356"/>
            <a:ext cx="712254" cy="7651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3">
            <a:extLst>
              <a:ext uri="{FF2B5EF4-FFF2-40B4-BE49-F238E27FC236}">
                <a16:creationId xmlns:a16="http://schemas.microsoft.com/office/drawing/2014/main" id="{3AB37340-BB3E-7FD7-C2B8-EE88AC295B20}"/>
              </a:ext>
            </a:extLst>
          </p:cNvPr>
          <p:cNvSpPr/>
          <p:nvPr/>
        </p:nvSpPr>
        <p:spPr>
          <a:xfrm>
            <a:off x="9486900" y="3589020"/>
            <a:ext cx="1074420" cy="42050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63413D8-3A1A-B5BF-A9EF-3625A5FA6C61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909310" y="3799272"/>
            <a:ext cx="3577590" cy="3383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B884A7E-29E1-1DF3-9191-23B50A797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542" y="4885504"/>
            <a:ext cx="6542088" cy="143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0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7BBE-9EEC-2F8C-0799-7238686C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7E0B1-537C-7BCA-1081-9B705F74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Чтение результатов и отображение на графике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E0B998A-F7CC-EBF6-8AA0-BB914528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33B2D5-D23C-3397-9C08-3CD36ECF9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65" y="967154"/>
            <a:ext cx="9719278" cy="173032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D1577E-BF11-0857-ACF8-F2159EDE7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678" y="2836558"/>
            <a:ext cx="4827063" cy="385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1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72DD-3E78-8062-1A84-542125E0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C8ADF-04A1-9A01-9946-14EE9702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Autofit/>
          </a:bodyPr>
          <a:lstStyle/>
          <a:p>
            <a:r>
              <a:rPr lang="ru-RU" sz="3600" dirty="0"/>
              <a:t>Установка параметров модели из графического интерфейса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D1157F-227B-A618-9E16-866F65F1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9469DC-3E51-F42D-256C-FFB912EA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636" y="3984872"/>
            <a:ext cx="4475357" cy="24506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969298-AF29-6F63-506F-DDD4A35E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828" y="3044511"/>
            <a:ext cx="3536946" cy="2012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6ADD4F-7415-4BA3-43F5-A89A400D7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91" y="4442528"/>
            <a:ext cx="4538860" cy="22451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816123-6401-43FB-04E6-DABD4E43D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09" y="940985"/>
            <a:ext cx="6933498" cy="20788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39C2F5-714E-E04A-DA79-B06F4DD8FD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644" y="884073"/>
            <a:ext cx="4538860" cy="3276625"/>
          </a:xfrm>
          <a:prstGeom prst="rect">
            <a:avLst/>
          </a:prstGeom>
        </p:spPr>
      </p:pic>
      <p:sp>
        <p:nvSpPr>
          <p:cNvPr id="11" name="Прямоугольник: скругленные углы 8">
            <a:extLst>
              <a:ext uri="{FF2B5EF4-FFF2-40B4-BE49-F238E27FC236}">
                <a16:creationId xmlns:a16="http://schemas.microsoft.com/office/drawing/2014/main" id="{1C987FF3-05F4-3917-2C79-EDB8151D1700}"/>
              </a:ext>
            </a:extLst>
          </p:cNvPr>
          <p:cNvSpPr/>
          <p:nvPr/>
        </p:nvSpPr>
        <p:spPr>
          <a:xfrm>
            <a:off x="7721665" y="3417319"/>
            <a:ext cx="1705612" cy="30299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8792EAE-F741-1EC2-BB66-32C1BE56FDBF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6471617" y="1915741"/>
            <a:ext cx="2102854" cy="15015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23">
            <a:extLst>
              <a:ext uri="{FF2B5EF4-FFF2-40B4-BE49-F238E27FC236}">
                <a16:creationId xmlns:a16="http://schemas.microsoft.com/office/drawing/2014/main" id="{396BA052-5107-3A1E-E943-E24D73F9FD66}"/>
              </a:ext>
            </a:extLst>
          </p:cNvPr>
          <p:cNvSpPr/>
          <p:nvPr/>
        </p:nvSpPr>
        <p:spPr>
          <a:xfrm>
            <a:off x="8884793" y="5973926"/>
            <a:ext cx="1085850" cy="4245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DD00173-E135-D4E0-E9D4-FBED699FD3D6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1357" y="5808494"/>
            <a:ext cx="6663436" cy="3776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34">
            <a:extLst>
              <a:ext uri="{FF2B5EF4-FFF2-40B4-BE49-F238E27FC236}">
                <a16:creationId xmlns:a16="http://schemas.microsoft.com/office/drawing/2014/main" id="{85EE5726-E8E2-A59D-AD85-EAB9B5948D5F}"/>
              </a:ext>
            </a:extLst>
          </p:cNvPr>
          <p:cNvSpPr/>
          <p:nvPr/>
        </p:nvSpPr>
        <p:spPr>
          <a:xfrm flipH="1">
            <a:off x="1475209" y="5999141"/>
            <a:ext cx="845820" cy="27328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35">
            <a:extLst>
              <a:ext uri="{FF2B5EF4-FFF2-40B4-BE49-F238E27FC236}">
                <a16:creationId xmlns:a16="http://schemas.microsoft.com/office/drawing/2014/main" id="{9E1AC12D-292D-46CB-294C-76D230275BB0}"/>
              </a:ext>
            </a:extLst>
          </p:cNvPr>
          <p:cNvSpPr/>
          <p:nvPr/>
        </p:nvSpPr>
        <p:spPr>
          <a:xfrm flipH="1" flipV="1">
            <a:off x="3952527" y="3803878"/>
            <a:ext cx="368011" cy="3157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13B5827A-382A-1023-D449-718D6009DD41}"/>
              </a:ext>
            </a:extLst>
          </p:cNvPr>
          <p:cNvCxnSpPr>
            <a:cxnSpLocks/>
          </p:cNvCxnSpPr>
          <p:nvPr/>
        </p:nvCxnSpPr>
        <p:spPr>
          <a:xfrm flipV="1">
            <a:off x="4320538" y="2769976"/>
            <a:ext cx="1006927" cy="10071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5750C58-03C4-770F-4941-C4ED547BE1A1}"/>
              </a:ext>
            </a:extLst>
          </p:cNvPr>
          <p:cNvCxnSpPr>
            <a:cxnSpLocks/>
          </p:cNvCxnSpPr>
          <p:nvPr/>
        </p:nvCxnSpPr>
        <p:spPr>
          <a:xfrm flipV="1">
            <a:off x="1972913" y="2779955"/>
            <a:ext cx="2359057" cy="32191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46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876F03EA-4698-40BD-B464-F6CD2D34B945}"/>
              </a:ext>
            </a:extLst>
          </p:cNvPr>
          <p:cNvSpPr txBox="1">
            <a:spLocks/>
          </p:cNvSpPr>
          <p:nvPr/>
        </p:nvSpPr>
        <p:spPr>
          <a:xfrm>
            <a:off x="332182" y="967155"/>
            <a:ext cx="11527636" cy="518511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Разработать графический интерфейс для управления параметрами модели подводного аппарата и отображения результатов моделирования.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Переменными параметрами модели считать:</a:t>
            </a:r>
          </a:p>
          <a:p>
            <a:r>
              <a:rPr lang="ru-RU" dirty="0"/>
              <a:t>гидродинамические коэффициенты сопротивления;</a:t>
            </a:r>
          </a:p>
          <a:p>
            <a:r>
              <a:rPr lang="ru-RU" dirty="0"/>
              <a:t>постоянную времени движителей.</a:t>
            </a:r>
          </a:p>
          <a:p>
            <a:pPr marL="0" indent="0">
              <a:buNone/>
            </a:pPr>
            <a:r>
              <a:rPr lang="ru-RU" dirty="0"/>
              <a:t>Графический интерфейс должен содержать: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поля для ввода значений изменяемых параметров;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кнопку запуска моделирования;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графики для отображения изменения величины координаты и скорости подводного аппарата в процессе моделирования.</a:t>
            </a:r>
          </a:p>
          <a:p>
            <a:pPr marL="0" indent="0">
              <a:buNone/>
            </a:pPr>
            <a:r>
              <a:rPr lang="ru-RU" u="sng" dirty="0"/>
              <a:t>Нечетные варианты</a:t>
            </a:r>
            <a:r>
              <a:rPr lang="ru-RU" dirty="0"/>
              <a:t>: модель подводного аппарата в контуре дифферента.</a:t>
            </a:r>
          </a:p>
          <a:p>
            <a:pPr marL="0" indent="0">
              <a:buNone/>
            </a:pPr>
            <a:r>
              <a:rPr lang="ru-RU" u="sng" dirty="0"/>
              <a:t>Четные варианты</a:t>
            </a:r>
            <a:r>
              <a:rPr lang="ru-RU" dirty="0"/>
              <a:t>: модель подводного аппарата в контуре глубины.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2802</TotalTime>
  <Words>233</Words>
  <Application>Microsoft Macintosh PowerPoint</Application>
  <PresentationFormat>Широкоэкранный</PresentationFormat>
  <Paragraphs>50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Тема Office</vt:lpstr>
      <vt:lpstr>Основы моделирования и исследования систем подводных аппаратов</vt:lpstr>
      <vt:lpstr>Графический интерфейс</vt:lpstr>
      <vt:lpstr>Окна редактора графического интерфейса</vt:lpstr>
      <vt:lpstr>Настройка внешнего вида окна приложения</vt:lpstr>
      <vt:lpstr>Настройка внешнего вида окна приложения</vt:lpstr>
      <vt:lpstr>Настройка внешнего вида окна приложения</vt:lpstr>
      <vt:lpstr>Настройка внешнего вида окна приложения</vt:lpstr>
      <vt:lpstr>Настройка логики приложения</vt:lpstr>
      <vt:lpstr>Подключение модели к приложению</vt:lpstr>
      <vt:lpstr>Подключение модели к приложению  и запуск моделирования</vt:lpstr>
      <vt:lpstr>Чтение результатов и отображение на графике</vt:lpstr>
      <vt:lpstr>Установка параметров модели из графического интерфейса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Анна Ромашко</cp:lastModifiedBy>
  <cp:revision>131</cp:revision>
  <dcterms:created xsi:type="dcterms:W3CDTF">2026-08-31T05:10:56Z</dcterms:created>
  <dcterms:modified xsi:type="dcterms:W3CDTF">2026-10-26T04:04:27Z</dcterms:modified>
</cp:coreProperties>
</file>